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(0:00-0:20) Somos o grupo da turma ESOA4. Este é o AgroSmart: uma plataforma que acompanha o pomar com sensores e fotos de folhas e diz, talhão por talhão, o que fazer. Vamos mostrar o problema, a solução, o diferencial, para quem é e como vira negócio.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(0:20-0:50) A Podridão Negra afeta folhas, frutos e galhos. As dores que ouvimos do produtor são três: falta de gente qualificada, trabalho dobrado e desperdício de insumos, e falta de previsão da safra.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(0:50-1:20) A solução tem três passos. Medir: sensores e fotos. Analisar: visão computacional na folha mais o ambiente do talhão. Decidir: alerta, risco e ação recomendada. Tudo roda de ponta a ponta, em container, sem intervenção manual.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(1:20-2:00) Este é o dashboard real. Mostra o valor atual e a média de cada sensor, a decisão por talhão, os alertas com a ação recomendada e o diagnóstico escrito de cada folha. Os dados de sensor são simulados nesta fase.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(2:00-2:40) Quatro diferenciais. Um: combinamos imagem e ambiente. Dois: entregamos decisão, não só dado. Três: o sistema opera e se monitora sozinho. Quatro: usamos o log do próprio sistema para achar e corrigir gargalos; a predição por folha ficou 3,7 vezes mais rápida.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(2:40-3:10) Não é só um protótipo de tela. Temos 39 execuções automáticas monitoradas sem falha, um pipeline com 9 verificações de qualidade e segurança, e uma melhoria de desempenho medida no log. Deixamos claro que os dados de campo ainda são simulados.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(3:10-3:40) Três públicos. Quem paga: fruticultores de maçã com vários talhões. O canal: cooperativas e consultorias, que compram para muitos produtores. E as seguradoras, que usam o índice de risco agregado e anônimo.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(3:40-4:20) A proposta de valor: detectar cedo, tratar só onde precisa e operar em escala. Para a receita temos quatro hipóteses: assinatura por talhão, kit de sensores, consultoria automatizada e dados e parcerias. São hipóteses a validar com produtores, não resultados.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(4:20-4:50) Hoje temos um protótipo funcional com dados simulados. O próximo passo é um pomar-piloto com sensores reais, validar o modelo com agrônomos e testar a assinatura com cooperativas. AgroSmart: tratar o pomar certo, na hora certa. Obrigado.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D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955279" y="1371600"/>
            <a:ext cx="3291840" cy="329184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822960"/>
            <a:ext cx="1188720" cy="6858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694944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>
                <a:solidFill>
                  <a:srgbClr val="FFFFFF"/>
                </a:solidFill>
                <a:latin typeface="Cambria"/>
              </a:rPr>
              <a:t>AgroSmart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6766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DCEBD9"/>
                </a:solidFill>
                <a:latin typeface="Calibri"/>
              </a:rPr>
              <a:t>Da folha à decisão: diagnóstico precoce de doenças em pomares de maçã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DCEBD9"/>
                </a:solidFill>
                <a:latin typeface="Calibri"/>
              </a:rPr>
              <a:t>Turma ESOA4 · Cayo Gonçalves de Morais Malara · Igor Nunes Teixeira · Lorenzo Guimarães · Thiago Bullara Leite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DCEBD9"/>
                </a:solidFill>
                <a:latin typeface="Calibri"/>
              </a:rPr>
              <a:t>Entrega final · Fase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4D2B"/>
                </a:solidFill>
                <a:latin typeface="Cambria"/>
              </a:rPr>
              <a:t>A Podridão Negra avança entre inspeções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420624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0">
                <a:solidFill>
                  <a:srgbClr val="1B2A22"/>
                </a:solidFill>
                <a:latin typeface="Calibri"/>
              </a:rPr>
              <a:t>A Podridão Negra (Black Rot) ataca folhas, frutos e galhos da macieira.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B2A22"/>
                </a:solidFill>
                <a:latin typeface="Calibri"/>
              </a:rPr>
              <a:t>Em pomares grandes, a inspeção manual é lenta e cara; a doença pode avançar entre uma visita e a próxima.</a:t>
            </a:r>
          </a:p>
          <a:p>
            <a:pPr algn="l">
              <a:spcAft>
                <a:spcPts val="1400"/>
              </a:spcAft>
            </a:pPr>
            <a:r>
              <a:rPr sz="1900" b="1">
                <a:solidFill>
                  <a:srgbClr val="C62828"/>
                </a:solidFill>
                <a:latin typeface="Calibri"/>
              </a:rPr>
              <a:t>Resultado: tratar tarde, tratar demais, ou os dois.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0" y="1554480"/>
            <a:ext cx="6492240" cy="1325880"/>
          </a:xfrm>
          <a:prstGeom prst="roundRect">
            <a:avLst>
              <a:gd name="adj" fmla="val 6000"/>
            </a:avLst>
          </a:prstGeom>
          <a:solidFill>
            <a:srgbClr val="F3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49240" y="1920240"/>
            <a:ext cx="594360" cy="59436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91639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4D2B"/>
                </a:solidFill>
                <a:latin typeface="Calibri"/>
              </a:rPr>
              <a:t>Pouca mão de obra qualificada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121408"/>
            <a:ext cx="5212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665B"/>
                </a:solidFill>
                <a:latin typeface="Calibri"/>
              </a:rPr>
              <a:t>Reconhecer a doença cedo exige quem entenda de campo, e esse profissional é escasso.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3063239"/>
            <a:ext cx="6492240" cy="1325880"/>
          </a:xfrm>
          <a:prstGeom prst="roundRect">
            <a:avLst>
              <a:gd name="adj" fmla="val 6000"/>
            </a:avLst>
          </a:prstGeom>
          <a:solidFill>
            <a:srgbClr val="F3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49240" y="3428999"/>
            <a:ext cx="594360" cy="59436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200399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4D2B"/>
                </a:solidFill>
                <a:latin typeface="Calibri"/>
              </a:rPr>
              <a:t>Trabalho dobrado e desperdício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630168"/>
            <a:ext cx="5212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665B"/>
                </a:solidFill>
                <a:latin typeface="Calibri"/>
              </a:rPr>
              <a:t>Sem saber onde está o problema, o produtor trata o pomar inteiro e gasta pesticida à toa.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4572000"/>
            <a:ext cx="6492240" cy="1325880"/>
          </a:xfrm>
          <a:prstGeom prst="roundRect">
            <a:avLst>
              <a:gd name="adj" fmla="val 6000"/>
            </a:avLst>
          </a:prstGeom>
          <a:solidFill>
            <a:srgbClr val="F3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349240" y="4937760"/>
            <a:ext cx="594360" cy="59436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70916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4D2B"/>
                </a:solidFill>
                <a:latin typeface="Calibri"/>
              </a:rPr>
              <a:t>Sem previsão da safra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5138928"/>
            <a:ext cx="5212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665B"/>
                </a:solidFill>
                <a:latin typeface="Calibri"/>
              </a:rPr>
              <a:t>Sem dado contínuo, não há como antecipar perdas nem planejar o manejo.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5665B"/>
                </a:solidFill>
                <a:latin typeface="Calibri"/>
              </a:rPr>
              <a:t>AgroSmart · Fase 7 · Turma ESOA4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5665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4D2B"/>
                </a:solidFill>
                <a:latin typeface="Cambria"/>
              </a:rPr>
              <a:t>Uma plataforma que mede, analisa e decide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20440" cy="3566160"/>
          </a:xfrm>
          <a:prstGeom prst="roundRect">
            <a:avLst>
              <a:gd name="adj" fmla="val 6000"/>
            </a:avLst>
          </a:prstGeom>
          <a:solidFill>
            <a:srgbClr val="F3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" y="2011680"/>
            <a:ext cx="822960" cy="8229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1752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D2B"/>
                </a:solidFill>
                <a:latin typeface="Cambria"/>
              </a:rPr>
              <a:t>Medir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57600"/>
            <a:ext cx="29260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A22"/>
                </a:solidFill>
                <a:latin typeface="Calibri"/>
              </a:rPr>
              <a:t>Sensores de solo, ar, temperatura e luz, mais fotos das folhas de cada talhão.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3108960"/>
            <a:ext cx="365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2E7D32"/>
                </a:solidFill>
                <a:latin typeface="Calibr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737360"/>
            <a:ext cx="3520440" cy="3566160"/>
          </a:xfrm>
          <a:prstGeom prst="roundRect">
            <a:avLst>
              <a:gd name="adj" fmla="val 6000"/>
            </a:avLst>
          </a:prstGeom>
          <a:solidFill>
            <a:srgbClr val="F3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54879" y="2011680"/>
            <a:ext cx="822960" cy="8229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301752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D2B"/>
                </a:solidFill>
                <a:latin typeface="Cambria"/>
              </a:rPr>
              <a:t>Analisar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3657600"/>
            <a:ext cx="29260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A22"/>
                </a:solidFill>
                <a:latin typeface="Calibri"/>
              </a:rPr>
              <a:t>Visão computacional mede a área doente; o ambiente do talhão mede o quanto o fungo é favorecido.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3108960"/>
            <a:ext cx="365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2E7D32"/>
                </a:solidFill>
                <a:latin typeface="Calibr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737360"/>
            <a:ext cx="3520440" cy="3566160"/>
          </a:xfrm>
          <a:prstGeom prst="roundRect">
            <a:avLst>
              <a:gd name="adj" fmla="val 6000"/>
            </a:avLst>
          </a:prstGeom>
          <a:solidFill>
            <a:srgbClr val="F3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41080" y="2011680"/>
            <a:ext cx="822960" cy="82296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301752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D2B"/>
                </a:solidFill>
                <a:latin typeface="Cambria"/>
              </a:rPr>
              <a:t>Decidir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3657600"/>
            <a:ext cx="29260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A22"/>
                </a:solidFill>
                <a:latin typeface="Calibri"/>
              </a:rPr>
              <a:t>Alerta, nível de risco e ação recomendada, em linguagem natural, por talhão.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5665B"/>
                </a:solidFill>
                <a:latin typeface="Calibri"/>
              </a:rPr>
              <a:t>Um único fluxo, do campo ao dashboard, rodando em container e sem intervenção manual.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5665B"/>
                </a:solidFill>
                <a:latin typeface="Calibri"/>
              </a:rPr>
              <a:t>AgroSmart · Fase 7 · Turma ESOA4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5665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4D2B"/>
                </a:solidFill>
                <a:latin typeface="Cambria"/>
              </a:rPr>
              <a:t>Funcionando: o que o produtor vê</a:t>
            </a:r>
          </a:p>
        </p:txBody>
      </p:sp>
      <p:pic>
        <p:nvPicPr>
          <p:cNvPr id="3" name="Picture 2" descr="dashboard_container_to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406640" cy="462686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0" y="1463040"/>
            <a:ext cx="3429000" cy="1024128"/>
          </a:xfrm>
          <a:prstGeom prst="roundRect">
            <a:avLst>
              <a:gd name="adj" fmla="val 6000"/>
            </a:avLst>
          </a:prstGeom>
          <a:solidFill>
            <a:srgbClr val="F3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5544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4D2B"/>
                </a:solidFill>
                <a:latin typeface="Calibri"/>
              </a:rPr>
              <a:t>Valor atual e média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9659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5665B"/>
                </a:solidFill>
                <a:latin typeface="Calibri"/>
              </a:rPr>
              <a:t>de cada sensor, com comparação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633472"/>
            <a:ext cx="3429000" cy="1024128"/>
          </a:xfrm>
          <a:prstGeom prst="roundRect">
            <a:avLst>
              <a:gd name="adj" fmla="val 6000"/>
            </a:avLst>
          </a:prstGeom>
          <a:solidFill>
            <a:srgbClr val="F3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2724912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4D2B"/>
                </a:solidFill>
                <a:latin typeface="Calibri"/>
              </a:rPr>
              <a:t>Decisão por talhão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3136391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5665B"/>
                </a:solidFill>
                <a:latin typeface="Calibri"/>
              </a:rPr>
              <a:t>prioridade e ação recomendada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803904"/>
            <a:ext cx="3429000" cy="1024128"/>
          </a:xfrm>
          <a:prstGeom prst="roundRect">
            <a:avLst>
              <a:gd name="adj" fmla="val 6000"/>
            </a:avLst>
          </a:prstGeom>
          <a:solidFill>
            <a:srgbClr val="F3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3895344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4D2B"/>
                </a:solidFill>
                <a:latin typeface="Calibri"/>
              </a:rPr>
              <a:t>Alertas com 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306824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5665B"/>
                </a:solidFill>
                <a:latin typeface="Calibri"/>
              </a:rPr>
              <a:t>gerados na hora, também ao vivo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4974336"/>
            <a:ext cx="3429000" cy="1024128"/>
          </a:xfrm>
          <a:prstGeom prst="roundRect">
            <a:avLst>
              <a:gd name="adj" fmla="val 6000"/>
            </a:avLst>
          </a:prstGeom>
          <a:solidFill>
            <a:srgbClr val="F3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5065775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4D2B"/>
                </a:solidFill>
                <a:latin typeface="Calibri"/>
              </a:rPr>
              <a:t>Diagnóstico escrito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5477255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5665B"/>
                </a:solidFill>
                <a:latin typeface="Calibri"/>
              </a:rPr>
              <a:t>em linguagem natural, por folha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144768"/>
            <a:ext cx="7406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5665B"/>
                </a:solidFill>
                <a:latin typeface="Calibri"/>
              </a:rPr>
              <a:t>Dashboard real servido pelo container; dados de sensores simulados.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5665B"/>
                </a:solidFill>
                <a:latin typeface="Calibri"/>
              </a:rPr>
              <a:t>AgroSmart · Fase 7 · Turma ESOA4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5665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4D2B"/>
                </a:solidFill>
                <a:latin typeface="Cambria"/>
              </a:rPr>
              <a:t>O que nos diferencia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F3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59" y="1828800"/>
            <a:ext cx="640080" cy="64008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19" y="182880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4D2B"/>
                </a:solidFill>
                <a:latin typeface="Calibri"/>
              </a:rPr>
              <a:t>Imagem + ambiente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606039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A22"/>
                </a:solidFill>
                <a:latin typeface="Calibri"/>
              </a:rPr>
              <a:t>O risco da folha soma a lesão (70%) ao ambiente do talhão: umidade, temperatura e solo (30%).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554480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F3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46520" y="1828800"/>
            <a:ext cx="640080" cy="64008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182880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4D2B"/>
                </a:solidFill>
                <a:latin typeface="Calibri"/>
              </a:rPr>
              <a:t>Decisão, não só dado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606039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A22"/>
                </a:solidFill>
                <a:latin typeface="Calibri"/>
              </a:rPr>
              <a:t>Cada talhão recebe prioridade e ação concreta, em vez de gráficos para interpretar.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86200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F3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4160520"/>
            <a:ext cx="640080" cy="64008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19" y="416052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4D2B"/>
                </a:solidFill>
                <a:latin typeface="Calibri"/>
              </a:rPr>
              <a:t>Opera e se monitora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93776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A22"/>
                </a:solidFill>
                <a:latin typeface="Calibri"/>
              </a:rPr>
              <a:t>Container, execução agendada, painel de saúde, logs e pipeline de segurança.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886200"/>
            <a:ext cx="5440680" cy="2148840"/>
          </a:xfrm>
          <a:prstGeom prst="roundRect">
            <a:avLst>
              <a:gd name="adj" fmla="val 6000"/>
            </a:avLst>
          </a:prstGeom>
          <a:solidFill>
            <a:srgbClr val="F3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46520" y="4160520"/>
            <a:ext cx="640080" cy="64008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416052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4D2B"/>
                </a:solidFill>
                <a:latin typeface="Calibri"/>
              </a:rPr>
              <a:t>Melhora com os próprios dados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93776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B2A22"/>
                </a:solidFill>
                <a:latin typeface="Calibri"/>
              </a:rPr>
              <a:t>A análise de processo achou o gargalo; a predição por folha ficou 3,7× mais rápida.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5665B"/>
                </a:solidFill>
                <a:latin typeface="Calibri"/>
              </a:rPr>
              <a:t>AgroSmart · Fase 7 · Turma ESOA4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5665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4D2B"/>
                </a:solidFill>
                <a:latin typeface="Cambria"/>
              </a:rPr>
              <a:t>Pronto para operar, não só para demonstrar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3520440" cy="3566160"/>
          </a:xfrm>
          <a:prstGeom prst="roundRect">
            <a:avLst>
              <a:gd name="adj" fmla="val 6000"/>
            </a:avLst>
          </a:prstGeom>
          <a:solidFill>
            <a:srgbClr val="1F4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920240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6400" b="1">
                <a:solidFill>
                  <a:srgbClr val="FFFFFF"/>
                </a:solidFill>
                <a:latin typeface="Cambria"/>
              </a:rPr>
              <a:t>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320040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CEBD9"/>
                </a:solidFill>
                <a:latin typeface="Calibri"/>
              </a:rPr>
              <a:t>execuções automáticas monitoradas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402336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B9D3B6"/>
                </a:solidFill>
                <a:latin typeface="Calibri"/>
              </a:rPr>
              <a:t>0 falhas registradas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45920"/>
            <a:ext cx="3520440" cy="3566160"/>
          </a:xfrm>
          <a:prstGeom prst="roundRect">
            <a:avLst>
              <a:gd name="adj" fmla="val 6000"/>
            </a:avLst>
          </a:prstGeom>
          <a:solidFill>
            <a:srgbClr val="1F4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59" y="1920240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6400" b="1">
                <a:solidFill>
                  <a:srgbClr val="FFFFFF"/>
                </a:solidFill>
                <a:latin typeface="Cambria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59" y="320040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CEBD9"/>
                </a:solidFill>
                <a:latin typeface="Calibri"/>
              </a:rPr>
              <a:t>verificações no pipeline DevSecOps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402336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B9D3B6"/>
                </a:solidFill>
                <a:latin typeface="Calibri"/>
              </a:rPr>
              <a:t>ruff, testes, bandit, pip-audit, trivy e container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645920"/>
            <a:ext cx="3520440" cy="3566160"/>
          </a:xfrm>
          <a:prstGeom prst="roundRect">
            <a:avLst>
              <a:gd name="adj" fmla="val 6000"/>
            </a:avLst>
          </a:prstGeom>
          <a:solidFill>
            <a:srgbClr val="1F4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1920240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6400" b="1">
                <a:solidFill>
                  <a:srgbClr val="FFFFFF"/>
                </a:solidFill>
                <a:latin typeface="Cambria"/>
              </a:rPr>
              <a:t>3,7×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320040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CEBD9"/>
                </a:solidFill>
                <a:latin typeface="Calibri"/>
              </a:rPr>
              <a:t>predição por folha mais rápida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02336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B9D3B6"/>
                </a:solidFill>
                <a:latin typeface="Calibri"/>
              </a:rPr>
              <a:t>de 46 ms para 13 ms após a análise de processo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665B"/>
                </a:solidFill>
                <a:latin typeface="Calibri"/>
              </a:rPr>
              <a:t>Números reais da nossa base de execuções e do pipeline local. Dados de campo ainda são simulados.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5665B"/>
                </a:solidFill>
                <a:latin typeface="Calibri"/>
              </a:rPr>
              <a:t>AgroSmart · Fase 7 · Turma ESOA4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5665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4D2B"/>
                </a:solidFill>
                <a:latin typeface="Cambria"/>
              </a:rPr>
              <a:t>Para quem 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3520440" cy="3931920"/>
          </a:xfrm>
          <a:prstGeom prst="roundRect">
            <a:avLst>
              <a:gd name="adj" fmla="val 6000"/>
            </a:avLst>
          </a:prstGeom>
          <a:solidFill>
            <a:srgbClr val="F3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7D32"/>
                </a:solidFill>
                <a:latin typeface="Calibri"/>
              </a:rPr>
              <a:t>QUEM PAGA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F4D2B"/>
                </a:solidFill>
                <a:latin typeface="Cambria"/>
              </a:rPr>
              <a:t>Fruticultores de maçã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474720"/>
            <a:ext cx="29260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A22"/>
                </a:solidFill>
                <a:latin typeface="Calibri"/>
              </a:rPr>
              <a:t>Produtores médios e grandes, com vários talhões, que não conseguem inspecionar tudo com frequência.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45920"/>
            <a:ext cx="3520440" cy="3931920"/>
          </a:xfrm>
          <a:prstGeom prst="roundRect">
            <a:avLst>
              <a:gd name="adj" fmla="val 6000"/>
            </a:avLst>
          </a:prstGeom>
          <a:solidFill>
            <a:srgbClr val="F3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79" y="1874519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7D32"/>
                </a:solidFill>
                <a:latin typeface="Calibri"/>
              </a:rPr>
              <a:t>COMO CHEGAMOS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228600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F4D2B"/>
                </a:solidFill>
                <a:latin typeface="Cambria"/>
              </a:rPr>
              <a:t>Cooperativas e consultorias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3474720"/>
            <a:ext cx="29260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A22"/>
                </a:solidFill>
                <a:latin typeface="Calibri"/>
              </a:rPr>
              <a:t>Compram para vários produtores e usam o painel para priorizar as visitas dos agrônomos.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645920"/>
            <a:ext cx="3520440" cy="3931920"/>
          </a:xfrm>
          <a:prstGeom prst="roundRect">
            <a:avLst>
              <a:gd name="adj" fmla="val 6000"/>
            </a:avLst>
          </a:prstGeom>
          <a:solidFill>
            <a:srgbClr val="F3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874519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7D32"/>
                </a:solidFill>
                <a:latin typeface="Calibri"/>
              </a:rPr>
              <a:t>QUEM USA OS DADOS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28600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F4D2B"/>
                </a:solidFill>
                <a:latin typeface="Cambria"/>
              </a:rPr>
              <a:t>Seguradoras agrícolas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3474720"/>
            <a:ext cx="29260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A22"/>
                </a:solidFill>
                <a:latin typeface="Calibri"/>
              </a:rPr>
              <a:t>Usam o índice de risco agregado e anônimo para precificar melhor, e podem dar desconto a quem monitora.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5665B"/>
                </a:solidFill>
                <a:latin typeface="Calibri"/>
              </a:rPr>
              <a:t>AgroSmart · Fase 7 · Turma ESOA4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5665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4D2B"/>
                </a:solidFill>
                <a:latin typeface="Cambria"/>
              </a:rPr>
              <a:t>Proposta de valor e como gera receita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F3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F4D2B"/>
                </a:solidFill>
                <a:latin typeface="Cambria"/>
              </a:rPr>
              <a:t>Proposta de valor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484632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1B2A22"/>
                </a:solidFill>
                <a:latin typeface="Calibri"/>
              </a:rPr>
              <a:t>Detectar cedo e tratar com precisão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B2A22"/>
                </a:solidFill>
                <a:latin typeface="Calibri"/>
              </a:rPr>
              <a:t>Menos safra perdida.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1B2A22"/>
                </a:solidFill>
                <a:latin typeface="Calibri"/>
              </a:rPr>
              <a:t>Tratar só onde precisa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B2A22"/>
                </a:solidFill>
                <a:latin typeface="Calibri"/>
              </a:rPr>
              <a:t>Menos desperdício de pesticida.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1B2A22"/>
                </a:solidFill>
                <a:latin typeface="Calibri"/>
              </a:rPr>
              <a:t>Operar em escala, sem equipe grande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B2A22"/>
                </a:solidFill>
                <a:latin typeface="Calibri"/>
              </a:rPr>
              <a:t>Um painel para todos os talhões.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55448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1F4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6916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Fontes de receita (hipóteses)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286000"/>
            <a:ext cx="484632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E6F0E4"/>
                </a:solidFill>
                <a:latin typeface="Calibri"/>
              </a:rPr>
              <a:t>Assinatura por talhão monitorado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E6F0E4"/>
                </a:solidFill>
                <a:latin typeface="Calibri"/>
              </a:rPr>
              <a:t>Básico: imagem. Pro: sensores e alertas.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E6F0E4"/>
                </a:solidFill>
                <a:latin typeface="Calibri"/>
              </a:rPr>
              <a:t>Kit de sensores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E6F0E4"/>
                </a:solidFill>
                <a:latin typeface="Calibri"/>
              </a:rPr>
              <a:t>Venda ou locação, mais manutenção.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E6F0E4"/>
                </a:solidFill>
                <a:latin typeface="Calibri"/>
              </a:rPr>
              <a:t>Consultoria automatizada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E6F0E4"/>
                </a:solidFill>
                <a:latin typeface="Calibri"/>
              </a:rPr>
              <a:t>Relatórios e comparativo entre safras.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E6F0E4"/>
                </a:solidFill>
                <a:latin typeface="Calibri"/>
              </a:rPr>
              <a:t>Dados e parcerias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E6F0E4"/>
                </a:solidFill>
                <a:latin typeface="Calibri"/>
              </a:rPr>
              <a:t>Índice de risco para seguradoras e insumos.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5665B"/>
                </a:solidFill>
                <a:latin typeface="Calibri"/>
              </a:rPr>
              <a:t>AgroSmart · Fase 7 · Turma ESOA4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5665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F4D2B"/>
                </a:solidFill>
                <a:latin typeface="Cambria"/>
              </a:rPr>
              <a:t>Onde estamos e para onde vamos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5394960" cy="4023360"/>
          </a:xfrm>
          <a:prstGeom prst="roundRect">
            <a:avLst>
              <a:gd name="adj" fmla="val 6000"/>
            </a:avLst>
          </a:prstGeom>
          <a:solidFill>
            <a:srgbClr val="F3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F4D2B"/>
                </a:solidFill>
                <a:latin typeface="Cambria"/>
              </a:rPr>
              <a:t>Hoje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1B2A22"/>
                </a:solidFill>
                <a:latin typeface="Calibri"/>
              </a:rPr>
              <a:t>Protótipo funcional ponta a ponta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B2A22"/>
                </a:solidFill>
                <a:latin typeface="Calibri"/>
              </a:rPr>
              <a:t>Sensores e cenários simulados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B2A22"/>
                </a:solidFill>
                <a:latin typeface="Calibri"/>
              </a:rPr>
              <a:t>Modelo treinado com imagens públicas de folhas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B2A22"/>
                </a:solidFill>
                <a:latin typeface="Calibri"/>
              </a:rPr>
              <a:t>Container, CI, monitoramento e análise de processo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554480"/>
            <a:ext cx="5394960" cy="4023360"/>
          </a:xfrm>
          <a:prstGeom prst="roundRect">
            <a:avLst>
              <a:gd name="adj" fmla="val 6000"/>
            </a:avLst>
          </a:prstGeom>
          <a:solidFill>
            <a:srgbClr val="F3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6916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C62828"/>
                </a:solidFill>
                <a:latin typeface="Cambria"/>
              </a:rPr>
              <a:t>Próximos passos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28600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1B2A22"/>
                </a:solidFill>
                <a:latin typeface="Calibri"/>
              </a:rPr>
              <a:t>Sensores reais em um pomar-piloto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B2A22"/>
                </a:solidFill>
                <a:latin typeface="Calibri"/>
              </a:rPr>
              <a:t>Validar o modelo com fotos e agrônomos de campo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B2A22"/>
                </a:solidFill>
                <a:latin typeface="Calibri"/>
              </a:rPr>
              <a:t>Ajustar os limiares de risco com dados reais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1B2A22"/>
                </a:solidFill>
                <a:latin typeface="Calibri"/>
              </a:rPr>
              <a:t>Testar o modelo de assinatura com cooperativas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F4D2B"/>
                </a:solidFill>
                <a:latin typeface="Cambria"/>
              </a:rPr>
              <a:t>AgroSmart: tratar o pomar certo, na hora certa.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5665B"/>
                </a:solidFill>
                <a:latin typeface="Calibri"/>
              </a:rPr>
              <a:t>AgroSmart · Fase 7 · Turma ESOA4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5665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